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08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447800"/>
            <a:ext cx="969264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0" b="1" dirty="0">
                <a:solidFill>
                  <a:srgbClr val="17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POWERPLAY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384048" y="10972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POWERPLAY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457200" y="2670048"/>
            <a:ext cx="219456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 +  Simulated Annealing   ·   IPL Schedule Optimizer</a:t>
            </a:r>
            <a:endParaRPr lang="en-US" sz="12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F84E03-3553-BC84-A582-F9E83CF68099}"/>
              </a:ext>
            </a:extLst>
          </p:cNvPr>
          <p:cNvSpPr txBox="1"/>
          <p:nvPr/>
        </p:nvSpPr>
        <p:spPr>
          <a:xfrm>
            <a:off x="-690372" y="3262884"/>
            <a:ext cx="5196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Divyam ·  Jahanvi Agrawal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&amp;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module brings to the solver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5 input JSON files from disk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os, sys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7830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paths and command-line instance dir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42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math, random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3026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and stochastic decisions in SA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2478024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E86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642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64608" y="3026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to respect the runtime budget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721608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A574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7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" y="4270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snapshots of the best schedule found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721608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47D6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D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ortools cp_model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64608" y="4270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industrial constraint solver — core engine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load()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5 JSON files — parametric, nothing hardcoded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572000" cy="356616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56616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2611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load(d):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j(f):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= os.path.join(d, f)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json.load(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(p)) \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os.path.exists(p)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j(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"teams.json"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\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j(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"travel_matrix.json"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\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j(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"broadcaster_bids.json"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\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j(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"blackouts.json"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\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j(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"parameters.json"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load(d) takes the instance folder path, passed straight from main()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helper j(f) builds one path with os.path.join and reads one file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json.load(open(p)) if os.path.exists(p) else None — returns None for a missing file instead of crashing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filenames: travel_matrix.json and broadcaster_bids.json — read from disk, never hardcoded values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5 datasets as one tuple — fully parametric across any instance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 Class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database every component reads from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55448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storing ALL instance data in one place — teams, venues, distances, bids, blackouts and parameters.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55448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78308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runs on object creation, receives all 5 loaded JSON datasets as inputs.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55448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363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source of truth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352044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venues, distances, bids, blackouts and parameters all live on this one object.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solidFill>
            <a:srgbClr val="151C36"/>
          </a:solidFill>
          <a:ln w="22225">
            <a:solidFill>
              <a:srgbClr val="A57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31363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57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re-reading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64608" y="352044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evaluate(), cpsat() and anneal() all read from this ONE object — no redundant file I/O.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venues, alt venues and bonus mapping for all 8 teams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246888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46888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4439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self.teams   = [t[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teams_raw]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self.primary = {t[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 t[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"home_venue"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teams_raw}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self.altv    = {t[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 t.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"alt_venue"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teams_raw}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self.altb    = {t[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 t.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"alt_bonus_cr"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teams_raw}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self.teams — ordered list of the 8 team codes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self.primary — team to home stadium map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self.altv — team to alternate venue (None when absent)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self.altb — alt-venue cash bonus per team; default 0.0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.get(...) is the safety net: returns None / 0.0 instead of raising KeyError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Matrix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13x13 grid split into two O(1) lookup tables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27432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74320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443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self.dist = {v1: {v2: vals[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v2,vals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v1,row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travel_raw.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self.cost = {v1: {v2: vals[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v2,vals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v1,row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travel_raw.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vals[0] -&gt; distance km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vals[1] -&gt; travel cost in Crores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cell is [distance_km, cost_cr]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vals[0] feeds self.dist — used by C2 distance fatigue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vals[1] feeds self.cost — used by C1 direct travel cost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 because C1 uses cost, C2 uses distance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inst.dist[A][B] is an O(1) hash lookup; same-city travel costs 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All 56 Matches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ordered home-away pair across 8 teams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9601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self.matches = [(h,a) </a:t>
            </a:r>
            <a:r>
              <a:rPr lang="en-US" sz="12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 </a:t>
            </a:r>
            <a:r>
              <a:rPr lang="en-US" sz="12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self.teams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2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r>
              <a:rPr lang="en-US" sz="12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self.teams </a:t>
            </a:r>
            <a:r>
              <a:rPr lang="en-US" sz="12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h!=a]</a:t>
            </a:r>
            <a:endParaRPr lang="en-US" sz="12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2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(self.matches) == </a:t>
            </a:r>
            <a:r>
              <a:rPr lang="en-US" sz="12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892808" cy="123444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1892808" cy="5486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87752"/>
            <a:ext cx="17099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3237890"/>
            <a:ext cx="17099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9464" y="2423160"/>
            <a:ext cx="1892808" cy="123444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2423160"/>
            <a:ext cx="1892808" cy="5486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16" name="Text 14"/>
          <p:cNvSpPr/>
          <p:nvPr/>
        </p:nvSpPr>
        <p:spPr>
          <a:xfrm>
            <a:off x="2660904" y="2587752"/>
            <a:ext cx="17099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660904" y="3237890"/>
            <a:ext cx="17099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1728" y="2423160"/>
            <a:ext cx="1892808" cy="123444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2423160"/>
            <a:ext cx="1892808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587752"/>
            <a:ext cx="17099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773168" y="3237890"/>
            <a:ext cx="17099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/ Team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93992" y="2423160"/>
            <a:ext cx="1892808" cy="1234440"/>
          </a:xfrm>
          <a:prstGeom prst="rect">
            <a:avLst/>
          </a:prstGeom>
          <a:solidFill>
            <a:srgbClr val="151C36"/>
          </a:solidFill>
          <a:ln w="22225">
            <a:solidFill>
              <a:srgbClr val="A6C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423160"/>
            <a:ext cx="1892808" cy="54864"/>
          </a:xfrm>
          <a:prstGeom prst="rect">
            <a:avLst/>
          </a:prstGeom>
          <a:solidFill>
            <a:srgbClr val="A6CF57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2587752"/>
            <a:ext cx="1709928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6C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885432" y="3237890"/>
            <a:ext cx="17099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Pairs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("MI","CSK") is MI home; ("CSK","MI") is a separate fixture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len == 56 crashes early on any miscount — never a silently wrong schedule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Broadcaster Bids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unordered matchups with a 3-tier revenue structure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28346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4439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self.bids = {}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bids_raw: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([b[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"team_a"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b[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"team_b"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self.bids[key] = {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"alpha_cr"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"beta"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b[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"beta_cr"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"gamma"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"gamma_cr"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"preferred_days"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 key is order-independent: MI vs CSK == CSK vs MI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— preferred-day payout (highest tier)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— any weekend payout (middle tier)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— plain weekday payout (lowest tier)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set(preferred_days) gives O(1) membership tests in R1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Blackouts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Venue-day restrictions stored as a set for O(1) lookup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2344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234440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7918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self.blackouts = {(b[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"venue"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b[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blackouts_raw}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Raw: [{"venue":"KOLKATA","day":16}, ...]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Set: {("KOLKATA", 16), ("MUMBAI", 6), ...}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783080"/>
          </a:xfrm>
          <a:prstGeom prst="rect">
            <a:avLst/>
          </a:prstGeom>
          <a:solidFill>
            <a:srgbClr val="151C36"/>
          </a:solidFill>
          <a:ln w="22225">
            <a:solidFill>
              <a:srgbClr val="E86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07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lookup — O(n)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a list every check means millions of comparisons across 500k+ SA iterations.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023360" cy="178308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907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lookup — O(1)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3291840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(venue, day) in self.blackouts is a single hash probe — instant at any scale, checked on every move.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controlling how heavily each penalty applies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kappa, p_exp, D0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fatigue scaling and the 7500 km distance threshold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99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eta, q, x0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64608" y="17830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away-stay penalty once a stay exceeds x0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E86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42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delta0 / 2 /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3026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density steps: rust, tired and cooked windows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478024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A57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642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57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tau_star, a_low/high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64608" y="3026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gap: optimal spacing, asymmetric over/under 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21608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A6CF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6C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lam_eq, Delta0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4270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travel-equity penalty between teams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721608"/>
            <a:ext cx="402336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47D6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886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7D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(multiplier)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64608" y="4270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Late-tournament weights: week 7 = 1.25x, week 8 = 1.6x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Days + venue() Helper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lookups and venue resolution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301752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017520"/>
          </a:xfrm>
          <a:prstGeom prst="rect">
            <a:avLst/>
          </a:prstGeom>
          <a:solidFill>
            <a:srgbClr val="A574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4439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self.weekend = {d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(d-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)%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self.day_week = {d: ((d-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)//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)+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venue(self, home, is_alt):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is_alt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self.altv[home]: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self.altv[home]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self.primary[home]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self.weekend pre-computes every weekend day for O(1) R1 checks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self.day_week maps day to week 1-8 for the late-tournament multiplier g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venue() resolves the real playing venue from home + is_alt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self.altv[home] guard never returns None for a team with no alt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evaluate()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 — called thousands of times per SA run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151C36"/>
          </a:solidFill>
          <a:ln w="25400">
            <a:solidFill>
              <a:srgbClr val="5DE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R1 + R2  </a:t>
            </a:r>
            <a:r>
              <a:rPr lang="en-US" sz="3000" b="1" kern="0" spc="100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C1 </a:t>
            </a:r>
            <a:r>
              <a:rPr lang="en-US" sz="3000" b="1" kern="0" spc="100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C2 </a:t>
            </a:r>
            <a:r>
              <a:rPr lang="en-US" sz="3000" b="1" kern="0" spc="100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C3 </a:t>
            </a:r>
            <a:r>
              <a:rPr lang="en-US" sz="3000" b="1" kern="0" spc="100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C4 </a:t>
            </a:r>
            <a:r>
              <a:rPr lang="en-US" sz="3000" b="1" kern="0" spc="100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C5 </a:t>
            </a:r>
            <a:r>
              <a:rPr lang="en-US" sz="3000" b="1" kern="0" spc="100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30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schedule, returns total league earnings J = revenues minus penalties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 every proposed schedule — grades it instantly, thousands of times a second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sched (56 matches with days + venues) and the inst data object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TWO things: the total J and a breakdown dict {R1, R2, C1...C6}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alone is the dominant term — by far the largest slice of J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500,000+ times during SA — every line in here matters for speed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&amp; Organising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per-team match timelines for penalty calculation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754880" cy="28346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4439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sched_s =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(sched, key=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m: m[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 = {t:[]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inst.teams}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sched_s: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tm[m[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tm[m[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"away"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tm[t].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(key=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m: m[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40680" y="1280160"/>
            <a:ext cx="3246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sched_s — full schedule in chronological order for R1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— each team's list of all 14 matches (home and away)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loop adds every match to BOTH teams' lists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 sort is essential: C3, C4, C5 depend on match ORDER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travel and gap penalties use the wrong sequence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Broadcaster Revenue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revenue term in J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87452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87452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7918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sched_s: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inst.bids.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([m[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],m[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"away"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]]),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"beta"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"gamma"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m[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      R1 += b[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inst.weekend: R1 += b[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"beta"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    R1 += b[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"gamma"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615184" cy="128016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91840"/>
            <a:ext cx="2615184" cy="5486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56432"/>
            <a:ext cx="2432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4136746"/>
            <a:ext cx="243230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day — highest payout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64408" y="3291840"/>
            <a:ext cx="2615184" cy="128016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3291840"/>
            <a:ext cx="2615184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3456432"/>
            <a:ext cx="2432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55848" y="4136746"/>
            <a:ext cx="243230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weekend — medium payout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71616" y="3291840"/>
            <a:ext cx="2615184" cy="128016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3291840"/>
            <a:ext cx="2615184" cy="5486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3456432"/>
            <a:ext cx="2432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63056" y="4136746"/>
            <a:ext cx="2432304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weekday — lowest payout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Alt Venue Bonus &amp; Penalty Init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revenue source + zeroing the counters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937760" cy="30632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063240"/>
          </a:xfrm>
          <a:prstGeom prst="rect">
            <a:avLst/>
          </a:prstGeom>
          <a:solidFill>
            <a:srgbClr val="A6CF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6268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(inst.altb[m[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sched_s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C1=C2=C3=C4=C5=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 = {}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 = tm[t]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ms: dist_T[t]=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v0 = inst.venue(ms[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ms[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TC=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28016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sums alt-venue bonuses only for matches with is_alt = True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C1=C2=...=0.0 is a chain assignment — five counters zeroed at once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starts at the team's FIRST match venue — no pre-tournament travel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and TC accumulate distance and cost as we walk the team's 14 matches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&amp; C2 — Travel Cost + Fatigue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consecutive matches per team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120640" cy="32004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200400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8097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(ms)):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 = inst.venue(ms[i][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 != v0: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  += inst.dist[v0][vi]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TC += inst.cost[v0][vi] \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* inst.g[inst.day_week[ms[i][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v0 = vi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+= TC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excess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 - inst.D0)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+= inst.kappa * (excess ** inst.p_exp)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dist_T[t] = 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0" y="1280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 != v0 — only pay when the venue actually changes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(cost) is scaled by the late-tournament multiplier g, so week 8 travel costs the most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is convex: distance beyond D0 grows with exponent p_exp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dist_T[t] stores each team's total distance for the C6 equity check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— Away-Stay Penalty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 too long at a non-home 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212080" cy="269748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69748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9011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 = inst.venue(ms[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ms[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(ms)):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 = inst.venue(ms[i][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v0 == vi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v0 != inst.primary[t]: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stay = ms[i][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 ms[i-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stay &gt; inst.x0: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C3 += inst.eta * ((stay - inst.x0) ** inst.q)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v0 = vi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Re-walks the team's matches with a fresh venue tracker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only when two back-to-back matches share a venue that is NOT the team's home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= days parked at that away venue between the two matches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exponent q once the stay passes x0 days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— Match Density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window fatigue per match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141732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7918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ms: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m[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 = </a:t>
            </a:r>
            <a:r>
              <a:rPr lang="en-US" sz="12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pm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d-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pm[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 d)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nu==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C4 += inst.delta0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nu==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C4 += inst.delta2</a:t>
            </a:r>
            <a:endParaRPr lang="en-US" sz="12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nu&gt;=</a:t>
            </a:r>
            <a:r>
              <a:rPr lang="en-US" sz="12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C4 += inst.delta3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615184" cy="141732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2615184" cy="5486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90672"/>
            <a:ext cx="2432304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= 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3861511"/>
            <a:ext cx="24323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— no recent match: delta0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64408" y="2926080"/>
            <a:ext cx="2615184" cy="141732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926080"/>
            <a:ext cx="2615184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3090672"/>
            <a:ext cx="2432304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= 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55848" y="3861511"/>
            <a:ext cx="24323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— two in window: delta2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71616" y="2926080"/>
            <a:ext cx="2615184" cy="1417320"/>
          </a:xfrm>
          <a:prstGeom prst="rect">
            <a:avLst/>
          </a:prstGeom>
          <a:solidFill>
            <a:srgbClr val="151C36"/>
          </a:solidFill>
          <a:ln w="22225">
            <a:solidFill>
              <a:srgbClr val="E860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2926080"/>
            <a:ext cx="2615184" cy="54864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20" name="Text 18"/>
          <p:cNvSpPr/>
          <p:nvPr/>
        </p:nvSpPr>
        <p:spPr>
          <a:xfrm>
            <a:off x="6163056" y="3090672"/>
            <a:ext cx="2432304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&gt;= 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63056" y="3861511"/>
            <a:ext cx="2432304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 — packed window: delta3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&amp; C6 — Gap Deviation + Travel Equity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penalty and cross-team fairness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— Gap Deviation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114800" cy="16916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08760"/>
            <a:ext cx="64008" cy="1691640"/>
          </a:xfrm>
          <a:prstGeom prst="rect">
            <a:avLst/>
          </a:prstGeom>
          <a:solidFill>
            <a:srgbClr val="A574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00200"/>
            <a:ext cx="38039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(ms)):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tau = ms[i][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 ms[i-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ts = inst.tau_star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C5 += inst.a_low*(tau-ts)**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tau&lt;=ts \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inst.a_high*(tau-ts)**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C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 — Travel Equity + final J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16916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508760"/>
            <a:ext cx="64008" cy="1691640"/>
          </a:xfrm>
          <a:prstGeom prst="rect">
            <a:avLst/>
          </a:prstGeom>
          <a:solidFill>
            <a:srgbClr val="A6CF5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00200"/>
            <a:ext cx="37124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Dmax =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(dist_T.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Dmin =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(dist_T.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C6 = inst.lam_eq *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Dmax-Dmin-inst.Delta0)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R1+R2 - C1-C2-C3-C4-C5-C6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is a quadratic around the ideal gap tau_star — asymmetric, a too-short gap (a_low vs a_high) is penalised differently from a too-long one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penalises only the spread beyond Delta0 between the most- and least-travelled teams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line assembles J — every revenue and penalty term in one expression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check() — Hard Constraint Verifier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must pass all of H2-H6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349240" cy="35204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520440"/>
          </a:xfrm>
          <a:prstGeom prst="rect">
            <a:avLst/>
          </a:prstGeom>
          <a:solidFill>
            <a:srgbClr val="47D6C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0383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check(sched, inst):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[]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days = [m[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(days) !=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"H2: days not 1-56 unique"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H4: no consecutive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t,ds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td.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a,b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(ds),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(ds)[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b-a &lt;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"H4:{t} {a},{b}"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H5: alt limit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]==t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&gt;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"H5:{t} &gt;2 alt"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H6: blackouts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= inst.venue(m[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(v, m[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inst.blackouts: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"H6:{v} day {m['day']}"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(V)==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0" y="1280160"/>
            <a:ext cx="2743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days must be exactly 1..56, each used once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progressive balance, max-min match count &lt;= 4 (also checked here)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no team plays on consecutive days (gap &gt;= 2)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— at most 2 alt-venue matches per team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— no match on a blacked-out (venue, day)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(ok, V): SA rejects any candidate with V non-empty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— Model &amp; Decision Variables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the industrial constraint engine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0" cy="210312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10312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718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cpsat(inst, tlim=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cp_model.CpModel()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D =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x[m][d] = 1 iff match m on day d+1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[[model.NewBoolVar(f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"x{m}_{d}"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(D)]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12801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a 56 x 56 grid of boolean variables — match vs day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x[m][d] = 1 means match m is played on day d+1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3,136 booleans the solver assigns simultaneously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2615184" cy="109728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2615184" cy="5486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22192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4381805"/>
            <a:ext cx="24323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variables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64408" y="3657600"/>
            <a:ext cx="2615184" cy="109728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657600"/>
            <a:ext cx="2615184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3822192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355848" y="4381805"/>
            <a:ext cx="24323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= days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71616" y="3657600"/>
            <a:ext cx="2615184" cy="109728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3657600"/>
            <a:ext cx="2615184" cy="5486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21" name="Text 19"/>
          <p:cNvSpPr/>
          <p:nvPr/>
        </p:nvSpPr>
        <p:spPr>
          <a:xfrm>
            <a:off x="6163056" y="3822192"/>
            <a:ext cx="2432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80s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63056" y="4381805"/>
            <a:ext cx="243230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— H2 &amp; H4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allocation and mandatory rest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00" cy="338328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38328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1755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H2: one match per day, one day per match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(M): model.AddExactlyOne(x[m])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model.AddExactlyOne([x[m][d]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H4: no team on consecutive days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 = [m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m,(h,a)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(inst.matches)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h==t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a==t]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(D-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model.Add(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(x[m][d]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(x[m][d+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ti) &lt;= 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80760" y="1280160"/>
            <a:ext cx="2606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AddExactlyOne on each row — a match lands on exactly one day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AddExactlyOne on each column — each day holds exactly one match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force a permutation matrix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sum over day d and d+1 &lt;= 1 blocks back-to-back games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is implicit — inst.matches already lists each pair once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— H3 &amp; H6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balance and venue blackouts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77840" cy="35204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52044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2669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H3: progressive balance (max-min &lt;= 4)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dlim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exp_f = dlim *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_math.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(exp_f) -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_math.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(exp_f)  +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 = [m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m,(h,a)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(inst.matches)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h==t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a==t]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cum = [x[m][dd]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dd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(dlim)]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(cum) &gt;= lo)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model.Add(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(cum) &lt;= hi)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H6: primary-venue blackouts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m,(home,_)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(inst.matches):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pv = inst.primary[home]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(v,bd)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inst.blackouts: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== pv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bd &lt;=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model.Add(x[m][bd-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checkpoint day, each team's cumulative count is bound to +/-2 of its expectation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window is equivalent to max-min &lt;= 4 between teams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forces x[m][bd-1] = 0 on a blacked-out primary venue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Alt-venue blackouts are handled later, post-solve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— Objective &amp; Solve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R1, then run 8 parallel workers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77840" cy="35204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52044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2669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Objective: maximize R1 (x100 -&gt; integers)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= []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m,(home,away)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(inst.matches):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inst.bids.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([home,away]), {...})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a100=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]*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b100=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"beta"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]*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g100=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"gamma"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]*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day = d+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rev = a100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b100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inst.weekend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g100)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 &gt;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obj.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 * x[m][d])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model.Maximize(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(obj))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 = cp_model.CpSolver()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solver.parameters.max_time_in_seconds = tlim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solver.parameters.num_search_workers = \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os.cpu_count()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solver.Solve(model)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is integer-only — bids are scaled x100 to become integers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* x[m][d] earns rev only when that match lands on that day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C1-C6 penalties are nonlinear, so they are left for SA, not CP-SAT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num_search_workers uses all 8 cores in parallel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opt_alt() — Alt Venue Optimiser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greedy delta-J post-processing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786384" cy="78638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243584" y="1234440"/>
            <a:ext cx="7443216" cy="786384"/>
          </a:xfrm>
          <a:prstGeom prst="rect">
            <a:avLst/>
          </a:prstGeom>
          <a:solidFill>
            <a:srgbClr val="151C36"/>
          </a:solidFill>
          <a:ln w="19050">
            <a:solidFill>
              <a:srgbClr val="4D9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32588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baseline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4752" y="161848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leaves CP-SAT with is_alt = False — days solved, venue economics untouched.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786384" cy="78638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3969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1243584" y="2139696"/>
            <a:ext cx="7443216" cy="786384"/>
          </a:xfrm>
          <a:prstGeom prst="rect">
            <a:avLst/>
          </a:prstGeom>
          <a:solidFill>
            <a:srgbClr val="151C36"/>
          </a:solidFill>
          <a:ln w="19050">
            <a:solidFill>
              <a:srgbClr val="F0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223113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delta-J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44752" y="25237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team, flip each home match to alt, re-evaluate the full J, record the gain.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786384" cy="78638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4495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1243584" y="3044952"/>
            <a:ext cx="7443216" cy="786384"/>
          </a:xfrm>
          <a:prstGeom prst="rect">
            <a:avLst/>
          </a:prstGeom>
          <a:solidFill>
            <a:srgbClr val="151C36"/>
          </a:solidFill>
          <a:ln w="19050">
            <a:solidFill>
              <a:srgbClr val="3DE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313639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best &lt;= 2 / team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44752" y="342900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delta descending; accept only if delta &gt; 0; hard stop at 2 (H5).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786384" cy="786384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502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1243584" y="3950208"/>
            <a:ext cx="7443216" cy="786384"/>
          </a:xfrm>
          <a:prstGeom prst="rect">
            <a:avLst/>
          </a:prstGeom>
          <a:solidFill>
            <a:srgbClr val="151C36"/>
          </a:solidFill>
          <a:ln w="19050">
            <a:solidFill>
              <a:srgbClr val="E86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404164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tradeoff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44752" y="433425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gives an R2 bonus but can raise travel cost C1 and distance fatigue C2.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opt_alt() — Setting the Baseline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schedule, then loop eligible teams only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846320" cy="12344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23444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535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baseJ, _ = evaluate(sched, inst)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inst.teams: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 = inst.altv[t]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av: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baseJ — current score; every flip is measured against it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av: continue skips the teams that have no alt venue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baseJ updates after each team, so later teams see prior gains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2120" y="1234440"/>
            <a:ext cx="3154680" cy="3474720"/>
          </a:xfrm>
          <a:prstGeom prst="rect">
            <a:avLst/>
          </a:prstGeom>
          <a:solidFill>
            <a:srgbClr val="151C36"/>
          </a:solidFill>
          <a:ln w="19050">
            <a:solidFill>
              <a:srgbClr val="4D9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eligible teams with alt venues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15000" y="1828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PUNE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Cr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RAIPUR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3774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 Cr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2926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</a:t>
            </a: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VIZAG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29260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Cr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GUWAHATI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4747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Cr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PBKS</a:t>
            </a: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DHARAMSALA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023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 Cr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&amp; Testing Home Matches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Delta-J for every possible alt-venue flip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0" cy="32004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20040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7183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home_idx = [i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]==t]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 = []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home_idx: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 = sched[i][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(av, day)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inst.blackouts: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test[i]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(sched[i])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newJ, _ = evaluate(test, inst)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scored.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((newJ - baseJ, i))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560" y="128016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home_idx — this team's 7 home-match positions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(H6) is the first gate — skip days where the alt venue is unavailable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list(sched) shallow-copies; dict(sched[i]) deep-copies only match i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evaluate(test) captures the full effect: R2 gained vs C1/C2 added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newJ - baseJ &gt; 0 means the flip helps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the Best Two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hard limit: max 2 alt-venue matches per team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0" cy="25146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51460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718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scored.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(reverse=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 =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delta, i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scored: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assigned &gt;=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delta &gt;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sched[i] = </a:t>
            </a:r>
            <a:r>
              <a:rPr lang="en-US" sz="11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(sched[i])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sched[i][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1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baseJ += delta</a:t>
            </a:r>
            <a:endParaRPr lang="en-US" sz="1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assigned += </a:t>
            </a:r>
            <a:r>
              <a:rPr lang="en-US" sz="11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128016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sort(reverse=True) — biggest delta first, greedy maximiser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&gt;= 2: break enforces the H5 limit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&gt; 0 — only flip when it genuinely improves J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baseJ += delta keeps the running score current for the next team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escaping local optima with controlled randomness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70048" cy="2331720"/>
          </a:xfrm>
          <a:prstGeom prst="rect">
            <a:avLst/>
          </a:prstGeom>
          <a:solidFill>
            <a:srgbClr val="151C36"/>
          </a:solidFill>
          <a:ln w="22225">
            <a:solidFill>
              <a:srgbClr val="E86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670048" cy="54864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PHASE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5146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many bad moves — explores widely, never trapped in local optima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36976" y="1234440"/>
            <a:ext cx="2670048" cy="233172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6976" y="1234440"/>
            <a:ext cx="2670048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14630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28416" y="20574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decreasing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5146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more selective — fewer bad moves accepted as T falls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16752" y="1234440"/>
            <a:ext cx="2670048" cy="233172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1234440"/>
            <a:ext cx="2670048" cy="5486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14630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PHASE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08192" y="20574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~ 0.001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251460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greedy — only improvements pass; the solution converges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metallurgy: hot atoms move freely, then settle into a stable crystal as it cools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~140s and 500,000+ iterations from the CP-SAT + opt_alt start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tracks the ALL-TIME best schedule — not just the current working one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Setup — anneal()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copies, lookups and cooling rate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00" cy="315468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154680"/>
          </a:xfrm>
          <a:prstGeom prst="rect">
            <a:avLst/>
          </a:prstGeom>
          <a:solidFill>
            <a:srgbClr val="A574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1755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anneal(sched0, inst, budget=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T0=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Tf=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 =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deepcopy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(sched0)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J, _  = evaluate(sched, inst)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 =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deepcopy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(sched); bestJ = J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top_bid =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key=</a:t>
            </a: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m: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-inst.bids.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(inst.matches[m]),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})[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"alpha"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])[: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day2i = {m[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]:i </a:t>
            </a: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i,m </a:t>
            </a:r>
            <a:r>
              <a:rPr lang="en-US" sz="100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(sched)}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T0; t0 = 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itr=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imp=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 = (Tf/T0)**(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00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budget*</a:t>
            </a:r>
            <a:r>
              <a:rPr lang="en-US" sz="100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r>
              <a:rPr lang="en-US" sz="100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1280160"/>
            <a:ext cx="2606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deepcopy(sched0) — independent working copy SA can mutate freely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separate all-time-best snapshot, updated rarely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top_bid — 20 highest-alpha matchups, precomputed for targeted moves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day2i — O(1) day to match-index reverse lookup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— geometric cooling rate from T0 to Tf over the budget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Variables Explained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initialisation variable does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solidFill>
            <a:srgbClr val="151C36"/>
          </a:solidFill>
          <a:ln w="15875">
            <a:solidFill>
              <a:srgbClr val="3DE0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4864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23444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copy — SA mutates it freely without touching the input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8229600" cy="548640"/>
          </a:xfrm>
          <a:prstGeom prst="rect">
            <a:avLst/>
          </a:prstGeom>
          <a:solidFill>
            <a:srgbClr val="151C36"/>
          </a:solidFill>
          <a:ln w="15875">
            <a:solidFill>
              <a:srgbClr val="4D9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37944"/>
            <a:ext cx="54864" cy="54864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8379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/ bestJ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1837944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all-time-best snapshot; deepcopy only on a new record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41448"/>
            <a:ext cx="8229600" cy="548640"/>
          </a:xfrm>
          <a:prstGeom prst="rect">
            <a:avLst/>
          </a:prstGeom>
          <a:solidFill>
            <a:srgbClr val="151C36"/>
          </a:solidFill>
          <a:ln w="15875">
            <a:solidFill>
              <a:srgbClr val="F0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41448"/>
            <a:ext cx="54864" cy="54864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41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top_bid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44144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matchups by alpha bid, used by the targeted move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8229600" cy="548640"/>
          </a:xfrm>
          <a:prstGeom prst="rect">
            <a:avLst/>
          </a:prstGeom>
          <a:solidFill>
            <a:srgbClr val="151C36"/>
          </a:solidFill>
          <a:ln w="15875">
            <a:solidFill>
              <a:srgbClr val="A574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44952"/>
            <a:ext cx="54864" cy="548640"/>
          </a:xfrm>
          <a:prstGeom prst="rect">
            <a:avLst/>
          </a:prstGeom>
          <a:solidFill>
            <a:srgbClr val="A574E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044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57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day2i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304495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lookup day -&gt; match index; rebuilt after each accept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648456"/>
            <a:ext cx="8229600" cy="548640"/>
          </a:xfrm>
          <a:prstGeom prst="rect">
            <a:avLst/>
          </a:prstGeom>
          <a:solidFill>
            <a:srgbClr val="151C36"/>
          </a:solidFill>
          <a:ln w="15875">
            <a:solidFill>
              <a:srgbClr val="E860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48456"/>
            <a:ext cx="54864" cy="548640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6484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T0 = 10.0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3648456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temperature — high means bad moves pass freely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151C36"/>
          </a:solidFill>
          <a:ln w="15875">
            <a:solidFill>
              <a:srgbClr val="A6CF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A6CF57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C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42519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rate: T multiplies by alpha every single iteration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 vs sched — Two Schedules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 keeps a candidate and a working copy alive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120640" cy="22860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28600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809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shallow copy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ns[i]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(sched[i])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deep copy 1 match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ns[i][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...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 the copy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nJ&gt;J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()&lt;math.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((nJ-J)/T):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 = ns  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accept: ns is now current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 = nJ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else: ns discarded, sched untouched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2487168" cy="100584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8679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4251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 currently stands — a valid schedule with score J.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90672" y="3703320"/>
            <a:ext cx="2487168" cy="100584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8679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2519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step — built, scored, then kept or thrown away.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128016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schedules let SA decide whether to take the step or stay put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Shallow-copy the list + deep-copy only the 1-3 changed matches keeps each iteration cheap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Accepted: sched = ns by reference — no extra copy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ns is dropped, sched stays in a known-valid state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SA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Time-bounded iteration with cooling each step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0" cy="123444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23444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718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()-t0 &lt; budget: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itr+=</a:t>
            </a:r>
            <a:r>
              <a:rPr lang="en-US" sz="11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T=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(Tf, T*alpha)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 = </a:t>
            </a:r>
            <a:r>
              <a:rPr lang="en-US" sz="11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993392" cy="100584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1993392" cy="5486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62072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3361334"/>
            <a:ext cx="181051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Swap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96896" y="2697480"/>
            <a:ext cx="1993392" cy="100584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96896" y="2697480"/>
            <a:ext cx="1993392" cy="5486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16" name="Text 14"/>
          <p:cNvSpPr/>
          <p:nvPr/>
        </p:nvSpPr>
        <p:spPr>
          <a:xfrm>
            <a:off x="2688336" y="2862072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688336" y="3361334"/>
            <a:ext cx="181051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36592" y="2697480"/>
            <a:ext cx="1993392" cy="100584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2697480"/>
            <a:ext cx="1993392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2862072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828032" y="3361334"/>
            <a:ext cx="181051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Rotate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76288" y="2697480"/>
            <a:ext cx="1993392" cy="1005840"/>
          </a:xfrm>
          <a:prstGeom prst="rect">
            <a:avLst/>
          </a:prstGeom>
          <a:solidFill>
            <a:srgbClr val="151C36"/>
          </a:solidFill>
          <a:ln w="22225">
            <a:solidFill>
              <a:srgbClr val="E860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2697480"/>
            <a:ext cx="1993392" cy="54864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2862072"/>
            <a:ext cx="1810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967728" y="3361334"/>
            <a:ext cx="1810512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Toggle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time.time()-t0 &lt; budget stops exactly on the wall-clock budget — adapts to machine speed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max(Tf, T*alpha) cools each step and never drops below the floor Tf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random r selects the move type for this iteration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Types 1 &amp;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Swap (62%) and Targeted Preferred Day (15%)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E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1 — Day Swap (62%)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60520" cy="27432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64008" cy="274320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38496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&lt;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i,j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i==j: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ns[i]=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(sched[i]); ns[j]=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(sched[j])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ns[i][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],ns[j][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\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ns[j][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],ns[i][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9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2 — Targeted (15%)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463040"/>
            <a:ext cx="64008" cy="2743200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36210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&lt;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(top_bid)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inst.bids.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frozenset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(inst.matches[m]),{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()})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pref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"pref"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pref: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tgt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(pref)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 = day2i.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(tgt)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j==m: </a:t>
            </a: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ns[m]=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(sched[m]); ns[j]=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(sched[j])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ns[m][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],ns[j][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\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ns[j][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],ns[m][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1 swaps two matches' days — the workhorse; the 56-day set is preserved so H2 always holds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2 slides a top-20 matchup onto a preferred day for alpha revenue; day2i.get(tgt) is an O(1) reverse lookup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Types 3 &amp; 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Rotation (13%) and Alt Venue Toggle (10%)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3 — 3-Way Rotation (13%)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60520" cy="27432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64008" cy="2743200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38496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&lt; 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i,j,k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 = 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ns[i]=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(sched[i])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ns[j]=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(sched[j]); ns[k]=</a:t>
            </a:r>
            <a:r>
              <a:rPr lang="en-US" sz="9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(sched[k])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ns[i][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]=sched[j][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ns[j][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]=sched[k][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ns[k][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]=sched[i][</a:t>
            </a:r>
            <a:r>
              <a:rPr lang="en-US" sz="9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9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4 — Alt Venue Toggle (10%)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463040"/>
            <a:ext cx="64008" cy="2743200"/>
          </a:xfrm>
          <a:prstGeom prst="rect">
            <a:avLst/>
          </a:prstGeom>
          <a:solidFill>
            <a:srgbClr val="E8607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36210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tw = [t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inst.teams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inst.altv[t]]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 = 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(tw)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 = [i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i,m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]==t]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hi: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 = 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(hi)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 = 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sched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"home"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]==t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 = 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(sched); ns[i]=</a:t>
            </a:r>
            <a:r>
              <a:rPr lang="en-US" sz="82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(sched[i])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ns[i][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ns[i][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ac&lt;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av=inst.altv[t]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(av, ns[i][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\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inst.blackouts: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ns[i][</a:t>
            </a:r>
            <a:r>
              <a:rPr lang="en-US" sz="82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"is_alt"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82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2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 cyclically rotates three matches' days — reaching rearrangements no single 2-way swap can, escaping deeper local optima</a:t>
            </a:r>
            <a:endParaRPr lang="en-US" sz="11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4 flips one home match's is_alt, re-exploring R2 vs travel; respects H5 (ac &lt; 2) and the H6 blackout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Check + SA Acceptance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every proposed move must pass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212080" cy="274320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2743200"/>
          </a:xfrm>
          <a:prstGeom prst="rect">
            <a:avLst/>
          </a:prstGeom>
          <a:solidFill>
            <a:srgbClr val="47D6C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9011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ns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gate 1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ok, _ = check(ns, inst)    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gate 2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ok: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nJ,_ = evaluate(ns, inst)  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gate 3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nJ&gt;J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()&lt;math.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((nJ-J)/T):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sched=ns; J=nJ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day2i={m[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]:i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i,m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(sched)}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nJ&gt;bestJ: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bestJ=nJ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best=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deepcopy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(sched); imp+=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the move actually produced a candidate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check() verifies H2-H6; violations are rejected with no evaluate() call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— Metropolis rule: better always accepted, worse accepted with probability exp((nJ-J)/T)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day2i is rebuilt after every accepted move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deepcopy into best only on a true all-time record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Probability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Metropolis criterion at the heart of SA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151C36"/>
          </a:solidFill>
          <a:ln w="25400">
            <a:solidFill>
              <a:srgbClr val="5DE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P(accept)  =  </a:t>
            </a:r>
            <a:r>
              <a:rPr lang="en-US" sz="280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 (nJ - J) / T 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&gt; J — the new schedule is better, so it is always accepted (probability 1)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&lt; J — worse moves accepted with a probability set by how much worse and how hot T is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T: exp(negative / large) ~ 1, so even bad moves pass — wide exploration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E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-&gt; 0.001: exp(negative / tiny) ~ 0, so almost nothing bad passes — greedy convergence</a:t>
            </a:r>
            <a:endParaRPr lang="en-US" sz="125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some worse moves is exactly what lets SA escape local optima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main() — Orchestration &amp;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every phase in order and saves the schedule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303520" cy="3246120"/>
          </a:xfrm>
          <a:prstGeom prst="rect">
            <a:avLst/>
          </a:prstGeom>
          <a:solidFill>
            <a:srgbClr val="0A0E1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9926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sys.argv[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(sys.argv)&gt;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 = cpsat(inst, tlim=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1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 = opt_alt(sched, inst)     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2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elapsed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()-t0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sa_budget =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(elapsed))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best, bestJ = anneal(sched, inst,   </a:t>
            </a:r>
            <a:r>
              <a:rPr lang="en-US" sz="1050" dirty="0">
                <a:solidFill>
                  <a:srgbClr val="5C68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3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budget=sa_budget,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T0=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Tf=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{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"matches"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[...]}</a:t>
            </a:r>
            <a:endParaRPr lang="en-US" sz="10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json.dump(out, </a:t>
            </a:r>
            <a:r>
              <a:rPr lang="en-US" sz="1050" dirty="0">
                <a:solidFill>
                  <a:srgbClr val="7F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(path,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indent=</a:t>
            </a:r>
            <a:r>
              <a:rPr lang="en-US" sz="1050" dirty="0">
                <a:solidFill>
                  <a:srgbClr val="F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C8D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random.seed(42) — identical schedule on the same machine every run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dir from argv, default current folder — parametric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CP-SAT (80s) -&gt; Phase 2 opt_alt -&gt; Phase 3 SA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sa_budget = max(30, 220-elapsed) guarantees SA at least 30s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 keys match the evaluator's schema exactly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—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JSON to a scored schedule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6616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97A3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" y="1737360"/>
            <a:ext cx="1078992" cy="54864"/>
          </a:xfrm>
          <a:prstGeom prst="rect">
            <a:avLst/>
          </a:prstGeom>
          <a:solidFill>
            <a:srgbClr val="97A3BE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7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JSON files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73736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81912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912" y="1737360"/>
            <a:ext cx="1078992" cy="54864"/>
          </a:xfrm>
          <a:prstGeom prst="rect">
            <a:avLst/>
          </a:prstGeom>
          <a:solidFill>
            <a:srgbClr val="4D9DE0"/>
          </a:solidFill>
          <a:ln/>
        </p:spPr>
      </p:sp>
      <p:sp>
        <p:nvSpPr>
          <p:cNvPr id="14" name="Text 12"/>
          <p:cNvSpPr/>
          <p:nvPr/>
        </p:nvSpPr>
        <p:spPr>
          <a:xfrm>
            <a:off x="1618488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18488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42616" y="173736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07208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1737360"/>
            <a:ext cx="1078992" cy="54864"/>
          </a:xfrm>
          <a:prstGeom prst="rect">
            <a:avLst/>
          </a:prstGeom>
          <a:solidFill>
            <a:srgbClr val="3DE08F"/>
          </a:solidFill>
          <a:ln/>
        </p:spPr>
      </p:sp>
      <p:sp>
        <p:nvSpPr>
          <p:cNvPr id="19" name="Text 17"/>
          <p:cNvSpPr/>
          <p:nvPr/>
        </p:nvSpPr>
        <p:spPr>
          <a:xfrm>
            <a:off x="2843784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cpsat()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43784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feasible + R1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67912" y="173736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32504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1737360"/>
            <a:ext cx="1078992" cy="54864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069080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opt_alt()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69080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alt venues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93208" y="173736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57800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A57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1737360"/>
            <a:ext cx="1078992" cy="54864"/>
          </a:xfrm>
          <a:prstGeom prst="rect">
            <a:avLst/>
          </a:prstGeom>
          <a:solidFill>
            <a:srgbClr val="A574E0"/>
          </a:solidFill>
          <a:ln/>
        </p:spPr>
      </p:sp>
      <p:sp>
        <p:nvSpPr>
          <p:cNvPr id="29" name="Text 27"/>
          <p:cNvSpPr/>
          <p:nvPr/>
        </p:nvSpPr>
        <p:spPr>
          <a:xfrm>
            <a:off x="5294376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57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anneal()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94376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SA refine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18504" y="173736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83096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47D6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1737360"/>
            <a:ext cx="1078992" cy="54864"/>
          </a:xfrm>
          <a:prstGeom prst="rect">
            <a:avLst/>
          </a:prstGeom>
          <a:solidFill>
            <a:srgbClr val="47D6C3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7D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+ evaluate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19672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score J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43800" y="173736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08392" y="1737360"/>
            <a:ext cx="1078992" cy="1371600"/>
          </a:xfrm>
          <a:prstGeom prst="rect">
            <a:avLst/>
          </a:prstGeom>
          <a:solidFill>
            <a:srgbClr val="151C36"/>
          </a:solidFill>
          <a:ln w="22225">
            <a:solidFill>
              <a:srgbClr val="5DE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08392" y="1737360"/>
            <a:ext cx="1078992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9" name="Text 37"/>
          <p:cNvSpPr/>
          <p:nvPr/>
        </p:nvSpPr>
        <p:spPr>
          <a:xfrm>
            <a:off x="7744968" y="19933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D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44968" y="2523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schedule.json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optimisation phases hand the same schedule object forward, each improving J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guarantees feasibility and maximal R1; opt_alt adds R2; SA polishes every penalty term</a:t>
            </a:r>
            <a:endParaRPr lang="en-US" sz="12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and evaluate() are reused throughout — as SA's inner gates and as the final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38912" y="310896"/>
            <a:ext cx="8266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10896" cy="45720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841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D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CP-SAT, opt_alt and SA work together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10312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4D9D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9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CP-SAT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sec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+ Revenue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1280160"/>
            <a:ext cx="5989320" cy="1078992"/>
          </a:xfrm>
          <a:prstGeom prst="rect">
            <a:avLst/>
          </a:prstGeom>
          <a:solidFill>
            <a:srgbClr val="10172E"/>
          </a:solidFill>
          <a:ln w="15875">
            <a:solidFill>
              <a:srgbClr val="4D9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89888"/>
            <a:ext cx="5577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of 56 matches to a distinct day (H2) and maximises R1 under hard constraints H1-H6. A feasible, high-revenue start.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10312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F0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opt_alt()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29809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Venue Greedy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2468880"/>
            <a:ext cx="5989320" cy="1078992"/>
          </a:xfrm>
          <a:prstGeom prst="rect">
            <a:avLst/>
          </a:prstGeom>
          <a:solidFill>
            <a:srgbClr val="10172E"/>
          </a:solidFill>
          <a:ln w="15875">
            <a:solidFill>
              <a:srgbClr val="F0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578608"/>
            <a:ext cx="5577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Post-processes CP-SAT. For each of 5 eligible teams, flips the best &lt;= 2 home matches to alt when delta &gt; 0. Respects H5 and H6.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2103120" cy="1078992"/>
          </a:xfrm>
          <a:prstGeom prst="rect">
            <a:avLst/>
          </a:prstGeom>
          <a:solidFill>
            <a:srgbClr val="151C36"/>
          </a:solidFill>
          <a:ln w="22225">
            <a:solidFill>
              <a:srgbClr val="3DE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856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E0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anneal()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41696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sec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E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Refinement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97480" y="3657600"/>
            <a:ext cx="5989320" cy="1078992"/>
          </a:xfrm>
          <a:prstGeom prst="rect">
            <a:avLst/>
          </a:prstGeom>
          <a:solidFill>
            <a:srgbClr val="10172E"/>
          </a:solidFill>
          <a:ln w="15875">
            <a:solidFill>
              <a:srgbClr val="3DE0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767328"/>
            <a:ext cx="5577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CP-SAT + opt_alt schedule, makes 500,000+ random moves, accepts via Metropolis, returns the all-time best found.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BF5202-9829-8337-1220-E5AA50FA6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28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692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128016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17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POWERPLAY</a:t>
            </a:r>
            <a:endParaRPr lang="en-US" sz="9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3383280" y="2971800"/>
            <a:ext cx="2377440" cy="54864"/>
          </a:xfrm>
          <a:prstGeom prst="rect">
            <a:avLst/>
          </a:prstGeom>
          <a:solidFill>
            <a:srgbClr val="5DE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7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Divyam ·  Jahanvi Agrawal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CSEA 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6479</Words>
  <Application>Microsoft Macintosh PowerPoint</Application>
  <PresentationFormat>On-screen Show (16:9)</PresentationFormat>
  <Paragraphs>761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PowerPlay — IPL Schedule Optimizer</dc:title>
  <dc:subject>PptxGenJS Presentation</dc:subject>
  <dc:creator>Jahanvi Agrawal, Divyam</dc:creator>
  <cp:lastModifiedBy>Microsoft Office User</cp:lastModifiedBy>
  <cp:revision>5</cp:revision>
  <dcterms:created xsi:type="dcterms:W3CDTF">2026-06-07T05:06:22Z</dcterms:created>
  <dcterms:modified xsi:type="dcterms:W3CDTF">2026-06-07T12:49:27Z</dcterms:modified>
</cp:coreProperties>
</file>